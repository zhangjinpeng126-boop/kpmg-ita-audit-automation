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embeddedFontLst>
    <p:embeddedFont>
      <p:font typeface="Liter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全球数据量 (ZB)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C19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2010</c:v>
                  </c:pt>
                  <c:pt idx="1">
                    <c:v>2020</c:v>
                  </c:pt>
                  <c:pt idx="2">
                    <c:v>2025E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64</c:v>
                </c:pt>
                <c:pt idx="2">
                  <c:v>181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C19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3D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ACL</c:v>
                </c:pt>
              </c:strCache>
            </c:strRef>
          </c:tx>
          <c:spPr>
            <a:solidFill>
              <a:srgbClr val="0891B2"/>
            </a:solidFill>
            <a:ln w="25400" cap="flat">
              <a:solidFill>
                <a:srgbClr val="0891B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功能完整度</c:v>
                  </c:pt>
                  <c:pt idx="1">
                    <c:v>易用性</c:v>
                  </c:pt>
                  <c:pt idx="2">
                    <c:v>灵活性</c:v>
                  </c:pt>
                  <c:pt idx="3">
                    <c:v>AI/ML扩展</c:v>
                  </c:pt>
                  <c:pt idx="4">
                    <c:v>成本效率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4</c:v>
                </c:pt>
                <c:pt idx="2">
                  <c:v>2.5</c:v>
                </c:pt>
                <c:pt idx="3">
                  <c:v>1.5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功能完整度</c:v>
                  </c:pt>
                  <c:pt idx="1">
                    <c:v>易用性</c:v>
                  </c:pt>
                  <c:pt idx="2">
                    <c:v>灵活性</c:v>
                  </c:pt>
                  <c:pt idx="3">
                    <c:v>AI/ML扩展</c:v>
                  </c:pt>
                  <c:pt idx="4">
                    <c:v>成本效率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3.5</c:v>
                </c:pt>
                <c:pt idx="2">
                  <c:v>3</c:v>
                </c:pt>
                <c:pt idx="3">
                  <c:v>1.5</c:v>
                </c:pt>
                <c:pt idx="4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功能完整度</c:v>
                  </c:pt>
                  <c:pt idx="1">
                    <c:v>易用性</c:v>
                  </c:pt>
                  <c:pt idx="2">
                    <c:v>灵活性</c:v>
                  </c:pt>
                  <c:pt idx="3">
                    <c:v>AI/ML扩展</c:v>
                  </c:pt>
                  <c:pt idx="4">
                    <c:v>成本效率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3.5</c:v>
                </c:pt>
                <c:pt idx="1">
                  <c:v>2.5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交易量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1800</c:v>
                </c:pt>
                <c:pt idx="1">
                  <c:v>1650</c:v>
                </c:pt>
                <c:pt idx="2">
                  <c:v>1720</c:v>
                </c:pt>
                <c:pt idx="3">
                  <c:v>1850</c:v>
                </c:pt>
                <c:pt idx="4">
                  <c:v>2100</c:v>
                </c:pt>
                <c:pt idx="5">
                  <c:v>1950</c:v>
                </c:pt>
                <c:pt idx="6">
                  <c:v>2050</c:v>
                </c:pt>
                <c:pt idx="7">
                  <c:v>1900</c:v>
                </c:pt>
                <c:pt idx="8">
                  <c:v>1780</c:v>
                </c:pt>
                <c:pt idx="9">
                  <c:v>1820</c:v>
                </c:pt>
                <c:pt idx="10">
                  <c:v>2200</c:v>
                </c:pt>
                <c:pt idx="11">
                  <c:v>2131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3D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期望频率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30.11</c:v>
                </c:pt>
                <c:pt idx="1">
                  <c:v>17.61</c:v>
                </c:pt>
                <c:pt idx="2">
                  <c:v>12.49</c:v>
                </c:pt>
                <c:pt idx="3">
                  <c:v>9.69</c:v>
                </c:pt>
                <c:pt idx="4">
                  <c:v>7.92</c:v>
                </c:pt>
                <c:pt idx="5">
                  <c:v>6.69</c:v>
                </c:pt>
                <c:pt idx="6">
                  <c:v>5.8</c:v>
                </c:pt>
                <c:pt idx="7">
                  <c:v>5.12</c:v>
                </c:pt>
                <c:pt idx="8">
                  <c:v>4.58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实际频率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30.22</c:v>
                </c:pt>
                <c:pt idx="1">
                  <c:v>17.84</c:v>
                </c:pt>
                <c:pt idx="2">
                  <c:v>12.49</c:v>
                </c:pt>
                <c:pt idx="3">
                  <c:v>9.71</c:v>
                </c:pt>
                <c:pt idx="4">
                  <c:v>7.88</c:v>
                </c:pt>
                <c:pt idx="5">
                  <c:v>6.63</c:v>
                </c:pt>
                <c:pt idx="6">
                  <c:v>8.23</c:v>
                </c:pt>
                <c:pt idx="7">
                  <c:v>4.65</c:v>
                </c:pt>
                <c:pt idx="8">
                  <c:v>2.18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首位数字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3D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风险评分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925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折扣异常</c:v>
                  </c:pt>
                  <c:pt idx="1">
                    <c:v>系统Bug</c:v>
                  </c:pt>
                  <c:pt idx="2">
                    <c:v>数据错误</c:v>
                  </c:pt>
                  <c:pt idx="3">
                    <c:v>人为取整</c:v>
                  </c:pt>
                  <c:pt idx="4">
                    <c:v>测试数据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</c:v>
                </c:pt>
                <c:pt idx="1">
                  <c:v>75</c:v>
                </c:pt>
                <c:pt idx="2">
                  <c:v>62</c:v>
                </c:pt>
                <c:pt idx="3">
                  <c:v>58</c:v>
                </c:pt>
                <c:pt idx="4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925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9252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utanjqj6lgka/mnt/agents/output/kpmg_audit/images/2_Industrial_Automation_Images_Browse.png">    </p:cNvPr>
          <p:cNvPicPr>
            <a:picLocks noChangeAspect="1"/>
          </p:cNvPicPr>
          <p:nvPr/>
        </p:nvPicPr>
        <p:blipFill>
          <a:blip r:embed="rId1"/>
          <a:srcRect l="13842" r="1384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5000"/>
                </a:srgbClr>
              </a:gs>
              <a:gs pos="60000">
                <a:srgbClr val="1C1917">
                  <a:alpha val="90000"/>
                </a:srgbClr>
              </a:gs>
              <a:gs pos="100000">
                <a:srgbClr val="1C1917">
                  <a:alpha val="80000"/>
                </a:srgbClr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524000" y="2984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524000" y="32385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52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Sampling to Intelligence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524000" y="5143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工业4.0时代自动化审计工具的演进与未来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524000" y="5905500"/>
            <a:ext cx="5080000" cy="12700"/>
          </a:xfrm>
          <a:prstGeom prst="rect">
            <a:avLst/>
          </a:prstGeom>
          <a:solidFill>
            <a:srgbClr val="78716C">
              <a:alpha val="50196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24000" y="6159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TECHNOLOGY BEST TEAM (ATBT)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北京外国语大学  |  赵若轩 · 高浩童 · 张金鹏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24000" y="749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i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is no longer retrospective. It is becoming real-time and predictive.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400" kern="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0795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4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目录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349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905000" y="234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审计危机与挑战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05000" y="279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工业4.0时代审计面临的困境与转型需求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6858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746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905000" y="3746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工具对比与选择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05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 / IDEA / Python 能力解析与选型矩阵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826000"/>
            <a:ext cx="6858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2349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525000" y="234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案例验证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525000" y="279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优衣库自动化审计实践与效果验证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429000"/>
            <a:ext cx="711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0" y="3746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525000" y="3746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未来展望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525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智能审计的演进方向与AI治理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4826000"/>
            <a:ext cx="711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588000"/>
            <a:ext cx="14732000" cy="2540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5969000"/>
            <a:ext cx="1371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2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核心洞察</a:t>
            </a:r>
            <a:pPr algn="l">
              <a:lnSpc>
                <a:spcPct val="160000"/>
              </a:lnSpc>
            </a:pPr>
            <a:r>
              <a:rPr lang="en-US" sz="22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：从抽样审计到全量审计，从人工检查到智能分析，审计行业正在经历一场由数据驱动的范式变革。本研究通过对比 ACL、IDEA 与 Python 三大工具，结合优衣库实际案例，论证自动化审计在效率、覆盖率与风险识别能力上的全面优势，并展望 AI 驱动的智能审计未来。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utanjqj6lgka/mnt/agents/output/kpmg_audit/images/6_Industrial_automation_background.png">    </p:cNvPr>
          <p:cNvPicPr>
            <a:picLocks noChangeAspect="1"/>
          </p:cNvPicPr>
          <p:nvPr/>
        </p:nvPicPr>
        <p:blipFill>
          <a:blip r:embed="rId1"/>
          <a:srcRect l="0" r="0" t="328" b="32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4000"/>
                </a:srgbClr>
              </a:gs>
              <a:gs pos="50000">
                <a:srgbClr val="1C1917">
                  <a:alpha val="88000"/>
                </a:srgbClr>
              </a:gs>
              <a:gs pos="100000">
                <a:srgbClr val="1C1917">
                  <a:alpha val="5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1016000" y="34925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746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审计危机与挑战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016000" y="457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工业4.0正在推动审计从抽样式检查向智能化分析转型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为工业时代构建的审计模式，正在数据爆炸时代举步维艰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Data, technology, and business complexity are outpacing the limits of traditional audit.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685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工业4.0技术体系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2413000"/>
            <a:ext cx="4445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ERP系统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集成业务与财务数据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IoT设备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海量设备互联互通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云计算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弹性计算与存储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智能制造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自动化生产运营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数字孪生</a:t>
            </a:r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虚拟映射物理世界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88000" y="196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全球数据量增长</a:t>
            </a:r>
            <a:endParaRPr lang="en-US" sz="2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588000" y="2413000"/>
          <a:ext cx="5080000" cy="330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858000" y="577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CAGR 27%  |  2010-2025E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049000" y="19685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传统审计困境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049000" y="2413000"/>
            <a:ext cx="4445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抽样覆盖率低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仅覆盖5%~10%交易，关键风险易被遗漏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人工效率低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处理耗时长，工作量大，成本高且易出错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审计滞后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周期性审计导致问题发现滞后，影响决策效率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难以识别实时风险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缺乏实时监控能力，难以及时预警异常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350000"/>
            <a:ext cx="14732000" cy="1968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6540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3000" y="6985000"/>
            <a:ext cx="1397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数据量呈指数级增长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：全球数据量从2010年的2ZB增长至2025年预计的181ZB，传统审计方法已无法应对。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实时风险识别变得愈发困难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：数据、技术与业务复杂度正在超越传统审计的极限，审计转型势在必行。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62000" y="8636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IDC, Statista, McKinsey Global Institute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工业4.0正迫使审计从抽样检查向智能分析演进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4.0 is forcing audit to evolve from sampling-based inspection to intelligent analysis.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032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Questions 研究问题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667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2667000"/>
            <a:ext cx="577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传统审计是否还能适应工业4.0？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33020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302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3500" y="3302000"/>
            <a:ext cx="577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自动化审计如何提升效率？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937000"/>
            <a:ext cx="406400" cy="406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937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" y="3937000"/>
            <a:ext cx="577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AI是否会重构未来审计行业？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75500" y="2794000"/>
            <a:ext cx="1905000" cy="190500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17" name="Text 15"/>
          <p:cNvSpPr/>
          <p:nvPr/>
        </p:nvSpPr>
        <p:spPr>
          <a:xfrm>
            <a:off x="7302500" y="3175000"/>
            <a:ext cx="165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0" y="2032000"/>
            <a:ext cx="596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Objectives 研究目标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525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3000" y="26670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调研ACL、IDEA、Python三大工具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525000" y="323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13360" y="22225"/>
                </a:moveTo>
                <a:lnTo>
                  <a:pt x="284480" y="22225"/>
                </a:lnTo>
                <a:cubicBezTo>
                  <a:pt x="294315" y="22225"/>
                  <a:pt x="302260" y="32157"/>
                  <a:pt x="302260" y="44450"/>
                </a:cubicBezTo>
                <a:cubicBezTo>
                  <a:pt x="302260" y="56743"/>
                  <a:pt x="294315" y="66675"/>
                  <a:pt x="284480" y="66675"/>
                </a:cubicBezTo>
                <a:lnTo>
                  <a:pt x="221361" y="66675"/>
                </a:lnTo>
                <a:cubicBezTo>
                  <a:pt x="218472" y="84594"/>
                  <a:pt x="208637" y="99387"/>
                  <a:pt x="195580" y="106472"/>
                </a:cubicBezTo>
                <a:lnTo>
                  <a:pt x="195580" y="311150"/>
                </a:lnTo>
                <a:lnTo>
                  <a:pt x="284480" y="311150"/>
                </a:lnTo>
                <a:cubicBezTo>
                  <a:pt x="294315" y="311150"/>
                  <a:pt x="302260" y="321082"/>
                  <a:pt x="302260" y="333375"/>
                </a:cubicBezTo>
                <a:cubicBezTo>
                  <a:pt x="302260" y="345668"/>
                  <a:pt x="294315" y="355600"/>
                  <a:pt x="284480" y="355600"/>
                </a:cubicBezTo>
                <a:lnTo>
                  <a:pt x="71120" y="355600"/>
                </a:lnTo>
                <a:cubicBezTo>
                  <a:pt x="61285" y="355600"/>
                  <a:pt x="53340" y="345668"/>
                  <a:pt x="53340" y="333375"/>
                </a:cubicBezTo>
                <a:cubicBezTo>
                  <a:pt x="53340" y="321082"/>
                  <a:pt x="61285" y="311150"/>
                  <a:pt x="71120" y="311150"/>
                </a:cubicBezTo>
                <a:lnTo>
                  <a:pt x="160020" y="311150"/>
                </a:lnTo>
                <a:lnTo>
                  <a:pt x="160020" y="106472"/>
                </a:lnTo>
                <a:cubicBezTo>
                  <a:pt x="146963" y="99318"/>
                  <a:pt x="137128" y="84524"/>
                  <a:pt x="134239" y="66675"/>
                </a:cubicBezTo>
                <a:lnTo>
                  <a:pt x="71120" y="66675"/>
                </a:lnTo>
                <a:cubicBezTo>
                  <a:pt x="61285" y="66675"/>
                  <a:pt x="53340" y="56743"/>
                  <a:pt x="53340" y="44450"/>
                </a:cubicBezTo>
                <a:cubicBezTo>
                  <a:pt x="53340" y="32157"/>
                  <a:pt x="61285" y="22225"/>
                  <a:pt x="71120" y="22225"/>
                </a:cubicBezTo>
                <a:lnTo>
                  <a:pt x="142240" y="22225"/>
                </a:lnTo>
                <a:cubicBezTo>
                  <a:pt x="150352" y="8751"/>
                  <a:pt x="163243" y="0"/>
                  <a:pt x="177800" y="0"/>
                </a:cubicBezTo>
                <a:cubicBezTo>
                  <a:pt x="192357" y="0"/>
                  <a:pt x="205248" y="8751"/>
                  <a:pt x="213360" y="22225"/>
                </a:cubicBezTo>
                <a:close/>
                <a:moveTo>
                  <a:pt x="244253" y="222250"/>
                </a:moveTo>
                <a:lnTo>
                  <a:pt x="324707" y="222250"/>
                </a:lnTo>
                <a:lnTo>
                  <a:pt x="284480" y="135989"/>
                </a:lnTo>
                <a:lnTo>
                  <a:pt x="244253" y="222250"/>
                </a:lnTo>
                <a:close/>
                <a:moveTo>
                  <a:pt x="284480" y="288925"/>
                </a:moveTo>
                <a:cubicBezTo>
                  <a:pt x="249531" y="288925"/>
                  <a:pt x="220472" y="265311"/>
                  <a:pt x="214471" y="234126"/>
                </a:cubicBezTo>
                <a:cubicBezTo>
                  <a:pt x="213027" y="226487"/>
                  <a:pt x="215027" y="218638"/>
                  <a:pt x="218194" y="211832"/>
                </a:cubicBezTo>
                <a:lnTo>
                  <a:pt x="271089" y="98485"/>
                </a:lnTo>
                <a:cubicBezTo>
                  <a:pt x="273868" y="92512"/>
                  <a:pt x="278979" y="88900"/>
                  <a:pt x="284480" y="88900"/>
                </a:cubicBezTo>
                <a:cubicBezTo>
                  <a:pt x="289981" y="88900"/>
                  <a:pt x="295092" y="92581"/>
                  <a:pt x="297871" y="98485"/>
                </a:cubicBezTo>
                <a:lnTo>
                  <a:pt x="350766" y="211832"/>
                </a:lnTo>
                <a:cubicBezTo>
                  <a:pt x="353933" y="218638"/>
                  <a:pt x="355933" y="226487"/>
                  <a:pt x="354489" y="234126"/>
                </a:cubicBezTo>
                <a:cubicBezTo>
                  <a:pt x="348488" y="265241"/>
                  <a:pt x="319429" y="288925"/>
                  <a:pt x="284480" y="288925"/>
                </a:cubicBezTo>
                <a:close/>
                <a:moveTo>
                  <a:pt x="70453" y="135989"/>
                </a:moveTo>
                <a:lnTo>
                  <a:pt x="30226" y="222250"/>
                </a:lnTo>
                <a:lnTo>
                  <a:pt x="110736" y="222250"/>
                </a:lnTo>
                <a:lnTo>
                  <a:pt x="70453" y="135989"/>
                </a:lnTo>
                <a:close/>
                <a:moveTo>
                  <a:pt x="500" y="234126"/>
                </a:moveTo>
                <a:cubicBezTo>
                  <a:pt x="-945" y="226487"/>
                  <a:pt x="1056" y="218638"/>
                  <a:pt x="4223" y="211832"/>
                </a:cubicBezTo>
                <a:lnTo>
                  <a:pt x="57118" y="98485"/>
                </a:lnTo>
                <a:cubicBezTo>
                  <a:pt x="59896" y="92512"/>
                  <a:pt x="65008" y="88900"/>
                  <a:pt x="70509" y="88900"/>
                </a:cubicBezTo>
                <a:cubicBezTo>
                  <a:pt x="76010" y="88900"/>
                  <a:pt x="81121" y="92581"/>
                  <a:pt x="83899" y="98485"/>
                </a:cubicBezTo>
                <a:lnTo>
                  <a:pt x="136795" y="211832"/>
                </a:lnTo>
                <a:cubicBezTo>
                  <a:pt x="139962" y="218638"/>
                  <a:pt x="141962" y="226487"/>
                  <a:pt x="140518" y="234126"/>
                </a:cubicBezTo>
                <a:cubicBezTo>
                  <a:pt x="134517" y="265241"/>
                  <a:pt x="105458" y="288925"/>
                  <a:pt x="70509" y="288925"/>
                </a:cubicBezTo>
                <a:cubicBezTo>
                  <a:pt x="35560" y="288925"/>
                  <a:pt x="6501" y="265311"/>
                  <a:pt x="500" y="234126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3000" y="32385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对比功能与适用场景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72231" y="150019"/>
                </a:moveTo>
                <a:lnTo>
                  <a:pt x="72231" y="194469"/>
                </a:lnTo>
                <a:cubicBezTo>
                  <a:pt x="72231" y="203706"/>
                  <a:pt x="79663" y="211138"/>
                  <a:pt x="88900" y="211138"/>
                </a:cubicBezTo>
                <a:cubicBezTo>
                  <a:pt x="98137" y="211138"/>
                  <a:pt x="105569" y="203706"/>
                  <a:pt x="105569" y="194469"/>
                </a:cubicBezTo>
                <a:lnTo>
                  <a:pt x="105569" y="150019"/>
                </a:lnTo>
                <a:cubicBezTo>
                  <a:pt x="105569" y="140781"/>
                  <a:pt x="98137" y="133350"/>
                  <a:pt x="88900" y="133350"/>
                </a:cubicBezTo>
                <a:cubicBezTo>
                  <a:pt x="79663" y="133350"/>
                  <a:pt x="72231" y="140781"/>
                  <a:pt x="72231" y="150019"/>
                </a:cubicBezTo>
                <a:close/>
                <a:moveTo>
                  <a:pt x="127794" y="83344"/>
                </a:moveTo>
                <a:lnTo>
                  <a:pt x="127794" y="194469"/>
                </a:lnTo>
                <a:cubicBezTo>
                  <a:pt x="127794" y="203706"/>
                  <a:pt x="135225" y="211138"/>
                  <a:pt x="144463" y="211138"/>
                </a:cubicBezTo>
                <a:cubicBezTo>
                  <a:pt x="153700" y="211138"/>
                  <a:pt x="161131" y="203706"/>
                  <a:pt x="161131" y="194469"/>
                </a:cubicBezTo>
                <a:lnTo>
                  <a:pt x="161131" y="83344"/>
                </a:lnTo>
                <a:cubicBezTo>
                  <a:pt x="161131" y="74106"/>
                  <a:pt x="153700" y="66675"/>
                  <a:pt x="144463" y="66675"/>
                </a:cubicBezTo>
                <a:cubicBezTo>
                  <a:pt x="135225" y="66675"/>
                  <a:pt x="127794" y="74106"/>
                  <a:pt x="127794" y="83344"/>
                </a:cubicBezTo>
                <a:close/>
                <a:moveTo>
                  <a:pt x="183356" y="127794"/>
                </a:moveTo>
                <a:lnTo>
                  <a:pt x="183356" y="194469"/>
                </a:lnTo>
                <a:cubicBezTo>
                  <a:pt x="183356" y="203706"/>
                  <a:pt x="190788" y="211138"/>
                  <a:pt x="200025" y="211138"/>
                </a:cubicBezTo>
                <a:cubicBezTo>
                  <a:pt x="209262" y="211138"/>
                  <a:pt x="216694" y="203706"/>
                  <a:pt x="216694" y="194469"/>
                </a:cubicBezTo>
                <a:lnTo>
                  <a:pt x="216694" y="127794"/>
                </a:lnTo>
                <a:cubicBezTo>
                  <a:pt x="216694" y="118556"/>
                  <a:pt x="209262" y="111125"/>
                  <a:pt x="200025" y="111125"/>
                </a:cubicBezTo>
                <a:cubicBezTo>
                  <a:pt x="190788" y="111125"/>
                  <a:pt x="183356" y="118556"/>
                  <a:pt x="183356" y="127794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3000" y="38100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分析自动化审计价值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0" y="438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10033000" y="43815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展望AI未来审计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5334000"/>
            <a:ext cx="14732000" cy="2984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5588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6096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审计正在进入一个全新的技术时代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is entering a new technological era.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82000" y="6096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自动化显著提升审计的可扩展性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improves scalability.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3000" y="7112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人工智能可能重新定义审计行业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may redefine the profession.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审计技术随数据复杂度不断演进，从标准化走向预测性分析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is evolving from sampling inspection toward real-time intelligent analysis.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6" name="Shape 4"/>
          <p:cNvSpPr/>
          <p:nvPr/>
        </p:nvSpPr>
        <p:spPr>
          <a:xfrm>
            <a:off x="1524000" y="2476500"/>
            <a:ext cx="13208000" cy="38100"/>
          </a:xfrm>
          <a:prstGeom prst="rect">
            <a:avLst/>
          </a:prstGeom>
          <a:gradFill rotWithShape="1" flip="none">
            <a:gsLst>
              <a:gs pos="0">
                <a:srgbClr val="0891B2"/>
              </a:gs>
              <a:gs pos="33000">
                <a:srgbClr val="059669"/>
              </a:gs>
              <a:gs pos="66000">
                <a:srgbClr val="7C3AED"/>
              </a:gs>
              <a:gs pos="100000">
                <a:srgbClr val="D97706"/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2184400" y="237490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5994400" y="237490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9804400" y="2374900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3614400" y="2374900"/>
            <a:ext cx="228600" cy="2286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968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1990s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2794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 / IDEA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2000" y="32004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标准化审计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619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数据抽取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规则匹配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抽样检查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7000" y="35560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6D3D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968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2010s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2794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/ Big Data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32004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大数据审计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619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自动化分析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全量数据审计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可视化报表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47000" y="35560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6D3D1"/>
          </a:solidFill>
          <a:ln/>
        </p:spPr>
      </p:sp>
      <p:sp>
        <p:nvSpPr>
          <p:cNvPr id="21" name="Text 19"/>
          <p:cNvSpPr/>
          <p:nvPr/>
        </p:nvSpPr>
        <p:spPr>
          <a:xfrm>
            <a:off x="8382000" y="1968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2020s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82000" y="2794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Audit / RPA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82000" y="32004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智能审计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36195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智能识别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自动流程执行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557000" y="3556000"/>
            <a:ext cx="508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6D3D1"/>
          </a:solidFill>
          <a:ln/>
        </p:spPr>
      </p:sp>
      <p:sp>
        <p:nvSpPr>
          <p:cNvPr id="26" name="Text 24"/>
          <p:cNvSpPr/>
          <p:nvPr/>
        </p:nvSpPr>
        <p:spPr>
          <a:xfrm>
            <a:off x="12192000" y="19685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2030s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192000" y="2794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Audit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192000" y="32004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预测性审计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192000" y="3619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实时风险预测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持续审计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AI自主决策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334000"/>
            <a:ext cx="14732000" cy="2984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5588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6096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审计技术随数据复杂度不断演进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technology evolves with data complexity.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82000" y="6096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人工智能正在加速审计转型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is accelerating audit transformation.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7112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预测性审计是未来方向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audit is the future.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16000" y="34925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3746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工具对比与选择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 / IDEA / Python — 不同工具适配不同审计需求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065000" y="1524000"/>
            <a:ext cx="2540000" cy="2540000"/>
          </a:xfrm>
          <a:prstGeom prst="ellipse">
            <a:avLst/>
          </a:prstGeom>
          <a:solidFill>
            <a:srgbClr val="D97706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0" y="3556000"/>
            <a:ext cx="2286000" cy="2286000"/>
          </a:xfrm>
          <a:prstGeom prst="ellipse">
            <a:avLst/>
          </a:prstGeom>
          <a:solidFill>
            <a:srgbClr val="059669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0" y="5334000"/>
            <a:ext cx="1524000" cy="1524000"/>
          </a:xfrm>
          <a:prstGeom prst="ellipse">
            <a:avLst/>
          </a:prstGeom>
          <a:solidFill>
            <a:srgbClr val="7C3AED">
              <a:alpha val="823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ACL代表传统审计逻辑的自动化升级，IDEA擅长多源异构数据分析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传统事务所审计的代表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19304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全量数据分析 · 重复交易检测 · 留痕与底稿 · 内控测试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合规性强，符合审计准则与监管要求 · 零代码操作，审计师可快速上手 · 易落地实施，工具生态成熟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局限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灵活性有限，内置函数与规则固定 · AI能力较弱，难以应对非结构化数据 · 定制化不足，二次开发能力有限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适用场景</a:t>
            </a:r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四大年审 · SOX内控 · 国企审计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37500" y="1460500"/>
            <a:ext cx="12700" cy="39370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460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</a:t>
            </a:r>
            <a:pPr algn="l">
              <a:lnSpc>
                <a:spcPct val="140000"/>
              </a:lnSpc>
            </a:pPr>
            <a:r>
              <a:rPr lang="en-US" sz="20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多源数据分析专家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0" y="19304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核心功能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多格式兼容(XLSX/CSV/TXT/DBF) · 数据交叉比对 · 可视化分析 · 存货审计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多源数据适配强，支持多种数据库与文件类型 · 制造业适配高，内置行业分析模板 · 四大广泛应用，方法论成熟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局限</a:t>
            </a:r>
            <a:endParaRPr lang="en-US" sz="1500" dirty="0"/>
          </a:p>
          <a:p>
            <a:pPr algn="l">
              <a:lnSpc>
                <a:spcPct val="155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实时性不足，非实时处理架构 · AI能力有限，缺乏机器学习 · 大规模处理较慢，性能受限</a:t>
            </a:r>
            <a:endParaRPr lang="en-US" sz="1500" dirty="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适用场景</a:t>
            </a:r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存货审计 · 采购审计 · 供应链分析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2000" y="5588000"/>
            <a:ext cx="14732000" cy="2730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778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6223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ACL强调标准化与流程化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 emphasizes standardization.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6223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IDEA在复杂业务环境中表现优异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 performs well in complex environments.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7239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实时性能力仍是两者主要短板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capability remains limited.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Python的最大优势不是自动化，而是智能化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核心能力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4445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数据清洗与处理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高性能数值计算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matplotlib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静态数据可视化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plotly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交互式可视化分析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机器学习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预测建模与智能分析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文本分析与语义理解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异常识别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异常检测与风险识别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ERP/IoT/API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多源系统数据接入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88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智能审计平台架构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15000" y="1968500"/>
            <a:ext cx="4826000" cy="50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19685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Capability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ML · NLP · 异常识别 · 知识图谱 · 预测分析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0" y="2476500"/>
            <a:ext cx="254000" cy="190500"/>
          </a:xfrm>
          <a:prstGeom prst="triangle">
            <a:avLst>
              <a:gd name="adj" fmla="val 50000"/>
            </a:avLst>
          </a:prstGeom>
          <a:solidFill>
            <a:srgbClr val="78716C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2730500"/>
            <a:ext cx="4826000" cy="50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7305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Engine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数据处理 · 特征工程 · 模型训练 · 可视化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3238500"/>
            <a:ext cx="254000" cy="190500"/>
          </a:xfrm>
          <a:prstGeom prst="triangle">
            <a:avLst>
              <a:gd name="adj" fmla="val 50000"/>
            </a:avLst>
          </a:prstGeom>
          <a:solidFill>
            <a:srgbClr val="78716C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0" y="3492500"/>
            <a:ext cx="4826000" cy="50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34925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Integration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ERP · IoT设备 · 数据库 · 文件/日志 ·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4000500"/>
            <a:ext cx="254000" cy="190500"/>
          </a:xfrm>
          <a:prstGeom prst="triangle">
            <a:avLst>
              <a:gd name="adj" fmla="val 50000"/>
            </a:avLst>
          </a:prstGeom>
          <a:solidFill>
            <a:srgbClr val="78716C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0" y="4254500"/>
            <a:ext cx="4826000" cy="508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42545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Open-source</a:t>
            </a:r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Python · PyTorch · scikit-learn · TensorFlow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049000" y="14605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优势与局限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049000" y="1905000"/>
            <a:ext cx="4445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 (Strengths)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高灵活性 — 可灵活开发与扩展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开源低成本 — 降低软件采购成本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支持AI — 原生支持ML与深度学习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支持实时审计 — 实时数据流处理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49000" y="3556000"/>
            <a:ext cx="444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局限 (Limitations)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学习门槛高 — 需编程与数据科学能力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缺少标准化底稿 — 需自行设计留痕逻辑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依赖技术团队 — 对技术团队能力依赖度高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14732000" cy="2984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588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6096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Python让审计从自动化走向智能化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enables intelligent audit.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2000" y="6096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深度集成AI是Python的核心优势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integration is its key advantage.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7112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实时数据分析让审计更及时、敏锐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analytics becomes possible.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Python在灵活性与AI扩展性上领先，与ACL和IDEA形成互补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62000" y="1460500"/>
          <a:ext cx="5334000" cy="419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7000" y="1460500"/>
          <a:ext cx="9017000" cy="4191000"/>
        </p:xfrm>
        <a:graphic>
          <a:graphicData uri="http://schemas.openxmlformats.org/drawingml/2006/table">
            <a:tbl>
              <a:tblPr/>
              <a:tblGrid>
                <a:gridCol w="1983740"/>
                <a:gridCol w="2344420"/>
                <a:gridCol w="2344420"/>
                <a:gridCol w="2344420"/>
              </a:tblGrid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维度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IDEA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Python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72085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功能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全面的审计工具集，内置大量审计模块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核心审计功能完善，易用性强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功能依赖生态扩展，可定制化开发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72085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成本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$$$$ 较高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D9770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$$$ 中等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 低（开源）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72085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灵活性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3/5 模块化，灵活性中等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3/5 标准化功能为主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5/5 高度灵活，可深度定制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72085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适用场景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大型企业审计、财务审计、合规与内控测试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中小型企业审计、财务报表审计、数据分析与抽样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大数据审计、自动化审计流程、AI驱动的风险识别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72085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AI扩展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2/5 AI扩展受限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2/5 AI支持有限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5/5 支持ML/NLP/LLM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2000" y="5969000"/>
            <a:ext cx="14732000" cy="2349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" name="Text 4"/>
          <p:cNvSpPr/>
          <p:nvPr/>
        </p:nvSpPr>
        <p:spPr>
          <a:xfrm>
            <a:off x="1143000" y="6159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43000" y="6604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互补优势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：ACL和IDEA提供成熟审计能力，Python提供灵活性与可扩展性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382000" y="6604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Python在AI扩展性领先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：开放生态支持高级分析、ML模型和智能自动化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43000" y="75946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集成创造最大价值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：未来审计技术栈应结合企业级工具与AI驱动的定制化方案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企业应根据数字化成熟度选择最匹配的工具，而非盲目追求最强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5" name="Text 3"/>
          <p:cNvSpPr/>
          <p:nvPr/>
        </p:nvSpPr>
        <p:spPr>
          <a:xfrm>
            <a:off x="254000" y="3302000"/>
            <a:ext cx="4445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eaVer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数字化程度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000" y="1524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000" y="609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88000" y="647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数据复杂度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0500" y="6477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80500" y="6477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70000" y="1524000"/>
            <a:ext cx="8382000" cy="4826000"/>
          </a:xfrm>
          <a:prstGeom prst="rect">
            <a:avLst/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0000" y="3937000"/>
            <a:ext cx="838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3" name="Shape 11"/>
          <p:cNvSpPr/>
          <p:nvPr/>
        </p:nvSpPr>
        <p:spPr>
          <a:xfrm>
            <a:off x="5461000" y="1524000"/>
            <a:ext cx="12700" cy="48260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1651000"/>
            <a:ext cx="393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部分数字化企业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数据分散、系统较少</a:t>
            </a:r>
            <a:endParaRPr lang="en-US" sz="15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可考虑搭配 Excel 等基础工具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51500" y="1651000"/>
            <a:ext cx="381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智能制造 / 互联网企业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数据量大、实时性要求高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需要AI、机器学习能力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具备较强技术团队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97000" y="41275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传统企业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数据结构相对简单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标准化审计流程为主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合规与底稿要求高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51500" y="4127500"/>
            <a:ext cx="381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多系统制造企业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多系统、多格式数据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需要复杂数据比对与分析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业务流程较为复杂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160000" y="1524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工具选型建议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00" y="2032000"/>
            <a:ext cx="533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ACL — 传统企业首选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适用于流程标准化、数据量较小、审计需求以合规为主的企业。强调标准化与可靠性。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 — 多系统制造企业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适用于数据源多、业务流程复杂、需要深度数据分析的制造型企业。跨系统分析是核心优势。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— 高数字化企业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适用于数据量大、实时性要求高、需要AI能力和高度定制化的企业。在高数字化环境中具备明显优势。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921500"/>
            <a:ext cx="14732000" cy="1397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71755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核心洞察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：工具选择取决于企业数字化程度。不同企业需要不同的解决方案 — ACL提供合规保障，IDEA擅长跨系统分析，Python在高数字化环境中具备明显优势。集成使用可创造最大价值。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16000" y="34925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3746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案例验证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通过优衣库中国区POS交易数据，验证自动化审计在风险识别中的价值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065000" y="1524000"/>
            <a:ext cx="2540000" cy="2540000"/>
          </a:xfrm>
          <a:prstGeom prst="ellipse">
            <a:avLst/>
          </a:prstGeom>
          <a:solidFill>
            <a:srgbClr val="D97706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0" y="3556000"/>
            <a:ext cx="2286000" cy="2286000"/>
          </a:xfrm>
          <a:prstGeom prst="ellipse">
            <a:avLst/>
          </a:prstGeom>
          <a:solidFill>
            <a:srgbClr val="059669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自动化审计能否发现手工抽样遗漏的风险？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案例背景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1879600"/>
            <a:ext cx="4445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优衣库中国区POS系统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2023全年交易数据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2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18,951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条有效记录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全国门店交易数据覆盖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数据来源：门店POS系统导出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88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月度交易量分布</a:t>
            </a:r>
            <a:endParaRPr lang="en-US" sz="2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588000" y="1879600"/>
          <a:ext cx="5080000" cy="203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11049000" y="146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审计目标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049000" y="1879600"/>
            <a:ext cx="4445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检测异常交易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识别异常金额、频率、折扣、退货等可疑交易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评估数据完整性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验证交易数据的完整性、准确性和一致性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识别控制缺陷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发现流程与系统中的潜在控制漏洞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2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自动化审计流程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62000" y="4635500"/>
            <a:ext cx="14732000" cy="1016000"/>
          </a:xfrm>
          <a:prstGeom prst="rect">
            <a:avLst/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6000" y="4762500"/>
            <a:ext cx="1778000" cy="762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1016000" y="47625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CSV数据导入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原始交易数据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921000" y="5016500"/>
            <a:ext cx="3175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16C"/>
          </a:solidFill>
          <a:ln/>
        </p:spPr>
      </p:sp>
      <p:sp>
        <p:nvSpPr>
          <p:cNvPr id="16" name="Shape 13"/>
          <p:cNvSpPr/>
          <p:nvPr/>
        </p:nvSpPr>
        <p:spPr>
          <a:xfrm>
            <a:off x="3365500" y="4762500"/>
            <a:ext cx="1778000" cy="762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3365500" y="47625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数据清洗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去重、补全、标准化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70500" y="5016500"/>
            <a:ext cx="3175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16C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0" y="4762500"/>
            <a:ext cx="1778000" cy="76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0" y="47625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Benford检测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数字分布偏差分析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20000" y="5016500"/>
            <a:ext cx="3175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16C"/>
          </a:solidFill>
          <a:ln/>
        </p:spPr>
      </p:sp>
      <p:sp>
        <p:nvSpPr>
          <p:cNvPr id="22" name="Shape 19"/>
          <p:cNvSpPr/>
          <p:nvPr/>
        </p:nvSpPr>
        <p:spPr>
          <a:xfrm>
            <a:off x="8064500" y="4762500"/>
            <a:ext cx="1778000" cy="762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8064500" y="47625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异常交易识别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金额、频率、折扣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969500" y="5016500"/>
            <a:ext cx="3175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16C"/>
          </a:solidFill>
          <a:ln/>
        </p:spPr>
      </p:sp>
      <p:sp>
        <p:nvSpPr>
          <p:cNvPr id="25" name="Shape 22"/>
          <p:cNvSpPr/>
          <p:nvPr/>
        </p:nvSpPr>
        <p:spPr>
          <a:xfrm>
            <a:off x="10414000" y="4762500"/>
            <a:ext cx="1778000" cy="762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414000" y="4762500"/>
            <a:ext cx="17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风险分类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分级与评分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2319000" y="5016500"/>
            <a:ext cx="3175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8716C"/>
          </a:solidFill>
          <a:ln/>
        </p:spPr>
      </p:sp>
      <p:sp>
        <p:nvSpPr>
          <p:cNvPr id="28" name="Shape 25"/>
          <p:cNvSpPr/>
          <p:nvPr/>
        </p:nvSpPr>
        <p:spPr>
          <a:xfrm>
            <a:off x="12763500" y="4762500"/>
            <a:ext cx="2476500" cy="762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9" name="Text 26"/>
          <p:cNvSpPr/>
          <p:nvPr/>
        </p:nvSpPr>
        <p:spPr>
          <a:xfrm>
            <a:off x="12763500" y="4762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自动生成报告</a:t>
            </a:r>
            <a:endParaRPr lang="en-US" sz="13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持续优化迭代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62000" y="6032500"/>
            <a:ext cx="14732000" cy="2286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1" name="Text 28"/>
          <p:cNvSpPr/>
          <p:nvPr/>
        </p:nvSpPr>
        <p:spPr>
          <a:xfrm>
            <a:off x="1143000" y="6223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43000" y="66675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全量审计在大数据时代已成为可能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Full-population audit becomes feasible.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382000" y="66675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自动化审计显著提升风险可见性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improves risk visibility.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143000" y="75819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零售数据中隐藏着大量异常信号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data contains hidden anomalies.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基于Benford定律的统计分析，发现数据中隐藏的异常模式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首位数字分布 (1-9)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2000" y="1879600"/>
          <a:ext cx="4826000" cy="317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69000" y="14605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偏差分析与卡方检验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69000" y="1879600"/>
          <a:ext cx="5334000" cy="3175000"/>
        </p:xfrm>
        <a:graphic>
          <a:graphicData uri="http://schemas.openxmlformats.org/drawingml/2006/table">
            <a:tbl>
              <a:tblPr/>
              <a:tblGrid>
                <a:gridCol w="960120"/>
                <a:gridCol w="1173480"/>
                <a:gridCol w="1173480"/>
                <a:gridCol w="960120"/>
                <a:gridCol w="10668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数字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期望%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实际%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偏差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AFAF9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残差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30.11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30.22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+0.11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0.12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17.61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17.84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+0.23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0.35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12.49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12.49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0.00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0.00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9.69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9.71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+0.02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0.06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7.92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7.88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-0.04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-0.09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6.69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6.63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-0.06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-0.16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5.80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8.23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+2.43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2.78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9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rgbClr val="29252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4.58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2.18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-2.40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-2.61</a:t>
                      </a:r>
                      <a:endParaRPr lang="en-US" sz="11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969000" y="5143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卡方检验：χ² = 61.73, df = 8, p-value &lt; 0.001  — 显著偏离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684000" y="146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业务解释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1684000" y="1879600"/>
            <a:ext cx="381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零售业心理定价现象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数字7偏高可能与心理定价策略有关：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79元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以"7"结尾的定价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99元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以"9"结尾的定价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审计启示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并非所有偏差都是错误，需结合业务场景判断。Benford定律是发现异常的起点。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2000" y="5842000"/>
            <a:ext cx="14732000" cy="2476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3" name="Text 9"/>
          <p:cNvSpPr/>
          <p:nvPr/>
        </p:nvSpPr>
        <p:spPr>
          <a:xfrm>
            <a:off x="1143000" y="6032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43000" y="6477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统计异常背后往往反映业务模式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anomalies reveal business patterns.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382000" y="6477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Benford分析显著提升风险识别能力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Benford analysis improves risk identification.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143000" y="7366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自动化审计增强审计判断的专业性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：通过数据驱动的方法发现传统抽样难以察觉的异常模式，但最终判断仍需结合业务知识。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自动化审计不仅提升效率，更从根本上改变了风险识别方式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3429000" cy="1651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6256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2500" y="19685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2,880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52500" y="2667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10 min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45000" y="1524000"/>
            <a:ext cx="3429000" cy="1651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0" name="Text 8"/>
          <p:cNvSpPr/>
          <p:nvPr/>
        </p:nvSpPr>
        <p:spPr>
          <a:xfrm>
            <a:off x="4635500" y="16256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35500" y="19685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5%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35500" y="2667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100%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28000" y="1524000"/>
            <a:ext cx="3429000" cy="1651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4" name="Text 12"/>
          <p:cNvSpPr/>
          <p:nvPr/>
        </p:nvSpPr>
        <p:spPr>
          <a:xfrm>
            <a:off x="8318500" y="16256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18500" y="19685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18500" y="2667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~100%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811000" y="1524000"/>
            <a:ext cx="3683000" cy="1651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8" name="Text 16"/>
          <p:cNvSpPr/>
          <p:nvPr/>
        </p:nvSpPr>
        <p:spPr>
          <a:xfrm>
            <a:off x="12001500" y="16256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spc="200" kern="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01500" y="1968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001500" y="2667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15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62000" y="34290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3619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异常交易识别结果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2000" y="4038600"/>
            <a:ext cx="4445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负利润交易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交易金额大于成本，导致利润为负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异常金额交易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交易金额偏离正常区间，存在异常波动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整百金额交易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交易金额为整百数，可能存在人为取整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2,842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条异常交易识别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88000" y="3619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风险Dashboard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588000" y="4038600"/>
            <a:ext cx="2032000" cy="203200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26" name="Text 24"/>
          <p:cNvSpPr/>
          <p:nvPr/>
        </p:nvSpPr>
        <p:spPr>
          <a:xfrm>
            <a:off x="5588000" y="4381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 100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588000" y="5524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10500" y="4038600"/>
            <a:ext cx="254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交易预警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2,842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条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异常交易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2.17%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高风险预警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156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条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监控交易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1.31M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68000" y="36195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风险因素暴露</a:t>
            </a:r>
            <a:endParaRPr lang="en-US" sz="20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10668000" y="4038600"/>
          <a:ext cx="4826000" cy="203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762000" y="6477000"/>
            <a:ext cx="14732000" cy="1841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2" name="Text 29"/>
          <p:cNvSpPr/>
          <p:nvPr/>
        </p:nvSpPr>
        <p:spPr>
          <a:xfrm>
            <a:off x="1143000" y="6731000"/>
            <a:ext cx="1397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核心洞察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：从抽样审计到全量审计，审计范式发生根本性转变。自动化审计将审计时间从2,880分钟压缩至10分钟，覆盖率从5%提升至100%，异常检出率从20%提升至接近100%。全量审计在大数据时代不仅可行，更是必然选择。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32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1016000" y="34925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3746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未来展望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AI正在推动审计从自动化走向智能化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065000" y="1524000"/>
            <a:ext cx="2540000" cy="2540000"/>
          </a:xfrm>
          <a:prstGeom prst="ellipse">
            <a:avLst/>
          </a:prstGeom>
          <a:solidFill>
            <a:srgbClr val="7C3AED">
              <a:alpha val="823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954000" y="3556000"/>
            <a:ext cx="2286000" cy="2286000"/>
          </a:xfrm>
          <a:prstGeom prst="ellipse">
            <a:avLst/>
          </a:prstGeom>
          <a:solidFill>
            <a:srgbClr val="D97706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AI驱动的审计框架实现更广覆盖、更深洞察、更智能决策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AI四大应用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3810000" cy="952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9304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合同审查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自动识别合同条款、风险点与异常内容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2946400"/>
            <a:ext cx="3810000" cy="9906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2971800"/>
            <a:ext cx="3429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机器学习 异常识别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基于历史数据学习，发现异常交易与潜在风险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013200"/>
            <a:ext cx="3810000" cy="9906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038600"/>
            <a:ext cx="3429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RPA 自动执行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自动提取数据、执行测试、生成底稿，提高效率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3810000" cy="9906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105400"/>
            <a:ext cx="3429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自动生成报告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理解审计结果，自动生成报告与建议，提升质量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80000" y="14605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AI审计框架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07000" y="1968500"/>
            <a:ext cx="5334000" cy="571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207000" y="1968500"/>
            <a:ext cx="533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Applications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风险评估 · 异常检测 · 控制测试 · 报告生成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47000" y="2540000"/>
            <a:ext cx="254000" cy="152400"/>
          </a:xfrm>
          <a:prstGeom prst="triangle">
            <a:avLst>
              <a:gd name="adj" fmla="val 50000"/>
            </a:avLst>
          </a:prstGeom>
          <a:solidFill>
            <a:srgbClr val="78716C"/>
          </a:solidFill>
          <a:ln/>
        </p:spPr>
      </p:sp>
      <p:sp>
        <p:nvSpPr>
          <p:cNvPr id="18" name="Shape 16"/>
          <p:cNvSpPr/>
          <p:nvPr/>
        </p:nvSpPr>
        <p:spPr>
          <a:xfrm>
            <a:off x="5207000" y="2730500"/>
            <a:ext cx="5334000" cy="571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0" y="2730500"/>
            <a:ext cx="533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Capabilities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NLP · ML · Deep Learning · 知识图谱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47000" y="3302000"/>
            <a:ext cx="254000" cy="152400"/>
          </a:xfrm>
          <a:prstGeom prst="triangle">
            <a:avLst>
              <a:gd name="adj" fmla="val 50000"/>
            </a:avLst>
          </a:prstGeom>
          <a:solidFill>
            <a:srgbClr val="78716C"/>
          </a:solidFill>
          <a:ln/>
        </p:spPr>
      </p:sp>
      <p:sp>
        <p:nvSpPr>
          <p:cNvPr id="21" name="Shape 19"/>
          <p:cNvSpPr/>
          <p:nvPr/>
        </p:nvSpPr>
        <p:spPr>
          <a:xfrm>
            <a:off x="5207000" y="3492500"/>
            <a:ext cx="5334000" cy="571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5207000" y="3492500"/>
            <a:ext cx="533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数据收集 · 清洗 · 集成 · 特征工程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47000" y="4064000"/>
            <a:ext cx="254000" cy="152400"/>
          </a:xfrm>
          <a:prstGeom prst="triangle">
            <a:avLst>
              <a:gd name="adj" fmla="val 50000"/>
            </a:avLst>
          </a:prstGeom>
          <a:solidFill>
            <a:srgbClr val="78716C"/>
          </a:solidFill>
          <a:ln/>
        </p:spPr>
      </p:sp>
      <p:sp>
        <p:nvSpPr>
          <p:cNvPr id="24" name="Shape 22"/>
          <p:cNvSpPr/>
          <p:nvPr/>
        </p:nvSpPr>
        <p:spPr>
          <a:xfrm>
            <a:off x="5207000" y="4254500"/>
            <a:ext cx="5334000" cy="571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5" name="Text 23"/>
          <p:cNvSpPr/>
          <p:nvPr/>
        </p:nvSpPr>
        <p:spPr>
          <a:xfrm>
            <a:off x="5207000" y="4254500"/>
            <a:ext cx="533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ERP/财务系统 · 文档/合同 · 交易数据 · 外部数据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49000" y="146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AI价值产出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049000" y="1905000"/>
            <a:ext cx="444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更广覆盖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从抽样审计到全量审计，覆盖率提升至接近100%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049000" y="2730500"/>
            <a:ext cx="444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C3AE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更强洞察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AI深度识别异常模式，发现传统审计难以发现的风险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049000" y="3556000"/>
            <a:ext cx="444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更高效率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自动化执行审计流程，显著节省时间与人力成本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1049000" y="4381500"/>
            <a:ext cx="4445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891B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更优报告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生成式AI自动生成高质量审计报告与建议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62000" y="622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从传统审计到实时审计的转型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2000" y="6604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传统审计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事后检查 · 年度审计 · 抽样分析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风险识别滞后，洞察有限，纠正成本高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66000" y="6794500"/>
            <a:ext cx="1016000" cy="317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8636000" y="6604000"/>
            <a:ext cx="685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实时审计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实时监控 · 持续审计 · 风险预测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风险提前识别，全面覆盖，决策更智能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7493000"/>
            <a:ext cx="14732000" cy="825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75946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审计正在从问题发现走向风险预测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：从理解过去到塑造未来，从周期性检查到7×24持续监控，AI正在重新定义审计的价值边界。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17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6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AI无法替代专业判断，但人机协同将创造更大价值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2700"/>
          </a:xfrm>
          <a:prstGeom prst="rect">
            <a:avLst/>
          </a:prstGeom>
          <a:solidFill>
            <a:srgbClr val="D6D3D1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AI风险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1905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数据隐私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审计数据涉及大量敏感信息，存在泄露与滥用风险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2667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AI黑箱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模型决策过程缺乏可解释性，难以追溯与验证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429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算法偏差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训练数据偏差可能导致错误判断，放大不公平风险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审计伦理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AI使用涉及责任归属、透明度与公平性等伦理挑战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4953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过度依赖AI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过度依赖自动化可能削弱审计人员的专业判断力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05500" y="2476500"/>
            <a:ext cx="2286000" cy="2286000"/>
          </a:xfrm>
          <a:prstGeom prst="ellipse">
            <a:avLst/>
          </a:prstGeom>
          <a:solidFill>
            <a:srgbClr val="1C1917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28575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Balance 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2500" y="32004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Judgment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2500" y="37465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+ Human Expertise</a:t>
            </a:r>
            <a:endParaRPr lang="en-US" sz="13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Trust and Value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90000" y="146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治理措施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90000" y="1905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人机协同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AI提供洞察与建议，审计人员负责判断与决策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90000" y="2667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加强监管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建立AI审计标准与监管框架，确保合规与可控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90000" y="3429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提高透明度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增强模型可解释性，确保审计过程可追溯可验证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90000" y="4191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0596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强化职业判断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2925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保持审计人员的独立性、怀疑精神与专业能力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2000" y="5715000"/>
            <a:ext cx="14732000" cy="762000"/>
          </a:xfrm>
          <a:prstGeom prst="rect">
            <a:avLst/>
          </a:prstGeom>
          <a:solidFill>
            <a:srgbClr val="F5F5F4"/>
          </a:solidFill>
          <a:ln w="12700">
            <a:solidFill>
              <a:srgbClr val="D6D3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715000"/>
            <a:ext cx="139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Ethics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C191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—  在AI时代，伦理是审计的基石，信任是审计的价值。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2000" y="6794500"/>
            <a:ext cx="14732000" cy="15240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6985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74295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AI引入新的治理风险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：隐私、透明度、偏见与问责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2000" y="74295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人类监督仍然不可或缺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：专业判断、怀疑精神与伦理不可替代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8716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utanjqj6lgka/mnt/agents/output/kpmg_audit/images/2_Industrial_Automation_Images_Browse.png">    </p:cNvPr>
          <p:cNvPicPr>
            <a:picLocks noChangeAspect="1"/>
          </p:cNvPicPr>
          <p:nvPr/>
        </p:nvPicPr>
        <p:blipFill>
          <a:blip r:embed="rId1"/>
          <a:srcRect l="13842" r="1384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917">
                  <a:alpha val="94000"/>
                </a:srgbClr>
              </a:gs>
              <a:gs pos="50000">
                <a:srgbClr val="1C1917">
                  <a:alpha val="91000"/>
                </a:srgbClr>
              </a:gs>
              <a:gs pos="100000">
                <a:srgbClr val="1C1917">
                  <a:alpha val="82000"/>
                </a:srgbClr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524000" y="762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524000" y="12065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审计的未来是智能、实时、AI驱动的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524000" y="20320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automation to intelligence, from hindsight to foresight.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24000" y="2603500"/>
            <a:ext cx="7620000" cy="12700"/>
          </a:xfrm>
          <a:prstGeom prst="rect">
            <a:avLst/>
          </a:prstGeom>
          <a:solidFill>
            <a:srgbClr val="78716C">
              <a:alpha val="37647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24000" y="2921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349500" y="29210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自动化审计将成为行业趋势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技术驱动审计模式变革，全面提升效率与质量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24000" y="4064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349500" y="40640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Python与AI将主导未来智能审计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AI技术与数据工具深度融合，推动审计走向智能化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24000" y="5207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349500" y="52070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未来审计师核心能力</a:t>
            </a:r>
            <a:endParaRPr lang="en-US" sz="20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数据分析 · AI理解 · 风险判断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524000" y="6477000"/>
            <a:ext cx="508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1778000" y="6477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i="1" dirty="0">
                <a:solidFill>
                  <a:srgbClr val="FAFA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will not replace auditors. But auditors who use AI will replace those who do not.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524000" y="7747000"/>
            <a:ext cx="6350000" cy="12700"/>
          </a:xfrm>
          <a:prstGeom prst="rect">
            <a:avLst/>
          </a:prstGeom>
          <a:solidFill>
            <a:srgbClr val="78716C">
              <a:alpha val="37647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524000" y="7937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北京外国语大学  |  Audit Technology Best Team (ATBT)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赵若轩 · 高浩童 · 张金鹏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Sampling to Intelligence - 工业4.0时代自动化审计工具的演进与未来</dc:title>
  <dc:subject>From Sampling to Intelligence - 工业4.0时代自动化审计工具的演进与未来</dc:subject>
  <dc:creator>Kimi</dc:creator>
  <cp:lastModifiedBy>Kimi</cp:lastModifiedBy>
  <cp:revision>1</cp:revision>
  <dcterms:created xsi:type="dcterms:W3CDTF">2026-07-05T15:12:05Z</dcterms:created>
  <dcterms:modified xsi:type="dcterms:W3CDTF">2026-07-05T15:12:05Z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{"Label":"From Sampling to Intelligence - 工业4.0时代自动化审计工具的演进与未来","ContentProducer":"001191110108MACG2KBH8F10000","ProduceID":"19f3265f-0802-88fb-8000-000048c12eb9","ReservedCode1":"","ContentPropagator":"001191110108MACG2KBH8F20000","PropagateID":"19f325d4-b812-8bd7-8000-094491124731","ReservedCode2":""}</vt:lpwstr>
  </property>
</Properties>
</file>